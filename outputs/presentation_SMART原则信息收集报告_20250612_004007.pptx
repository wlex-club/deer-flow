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3600" b="1">
                <a:solidFill>
                  <a:srgbClr val="2C3E50"/>
                </a:solidFill>
                <a:latin typeface="Microsoft YaHei"/>
              </a:defRPr>
            </a:pPr>
            <a:r>
              <a:t>🎯SMART原则信息收集报告</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深入解析目标管理的智慧法则</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报告人：[姓名] | 日期：[具体日期]</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p>
        </p:txBody>
      </p:sp>
      <p:sp>
        <p:nvSpPr>
          <p:cNvPr id="3" name="Content Placeholder 2"/>
          <p:cNvSpPr>
            <a:spLocks noGrp="1"/>
          </p:cNvSpPr>
          <p:nvPr>
            <p:ph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🗺️我们的探索之旅</a:t>
            </a:r>
          </a:p>
        </p:txBody>
      </p:sp>
      <p:sp>
        <p:nvSpPr>
          <p:cNvPr id="3" name="Content Placeholder 2"/>
          <p:cNvSpPr>
            <a:spLocks noGrp="1"/>
          </p:cNvSpPr>
          <p:nvPr>
            <p:ph idx="1"/>
          </p:nvPr>
        </p:nvSpPr>
        <p:spPr/>
        <p:txBody>
          <a:bodyPr/>
          <a:lstStyle/>
          <a:p>
            <a:pPr>
              <a:defRPr sz="1800" b="1">
                <a:solidFill>
                  <a:srgbClr val="34495E"/>
                </a:solidFill>
                <a:latin typeface="Microsoft YaHei"/>
              </a:defRPr>
            </a:pPr>
            <a:r>
              <a:t>🔍 **历史溯源** - 探寻SMART原则的起源与发展</a:t>
            </a:r>
          </a:p>
          <a:p>
            <a:pPr>
              <a:defRPr sz="1800" b="1">
                <a:solidFill>
                  <a:srgbClr val="34495E"/>
                </a:solidFill>
                <a:latin typeface="Microsoft YaHei"/>
              </a:defRPr>
            </a:pPr>
            <a:r>
              <a:t>📋 **字母解读** - 剖析原则中字母的对应含义与变体</a:t>
            </a:r>
          </a:p>
          <a:p>
            <a:pPr>
              <a:defRPr sz="1800" b="1">
                <a:solidFill>
                  <a:srgbClr val="34495E"/>
                </a:solidFill>
                <a:latin typeface="Microsoft YaHei"/>
              </a:defRPr>
            </a:pPr>
            <a:r>
              <a:t>💼 **应用洞察** - 了解原则在企业界的实际应用情况</a:t>
            </a:r>
          </a:p>
          <a:p>
            <a:pPr>
              <a:defRPr sz="1800" b="1">
                <a:solidFill>
                  <a:srgbClr val="34495E"/>
                </a:solidFill>
                <a:latin typeface="Microsoft YaHei"/>
              </a:defRPr>
            </a:pPr>
            <a:r>
              <a:t>🌟 **未来展望** - 预测原则的未来发展与影响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p>
        </p:txBody>
      </p:sp>
      <p:sp>
        <p:nvSpPr>
          <p:cNvPr id="3" name="Content Placeholder 2"/>
          <p:cNvSpPr>
            <a:spLocks noGrp="1"/>
          </p:cNvSpPr>
          <p:nvPr>
            <p:ph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🌟目标管理的起源与SMART原则的诞生</a:t>
            </a:r>
          </a:p>
        </p:txBody>
      </p:sp>
      <p:sp>
        <p:nvSpPr>
          <p:cNvPr id="3" name="Content Placeholder 2"/>
          <p:cNvSpPr>
            <a:spLocks noGrp="1"/>
          </p:cNvSpPr>
          <p:nvPr>
            <p:ph idx="1"/>
          </p:nvPr>
        </p:nvSpPr>
        <p:spPr/>
        <p:txBody>
          <a:bodyPr/>
          <a:lstStyle/>
          <a:p>
            <a:pPr>
              <a:defRPr sz="1800">
                <a:solidFill>
                  <a:srgbClr val="34495E"/>
                </a:solidFill>
                <a:latin typeface="Microsoft YaHei"/>
              </a:defRPr>
            </a:pPr>
            <a:r>
              <a:t>&gt; “目标管理是管理的基础，它能让组织和个人的努力更聚焦、更高效。”</a:t>
            </a:r>
          </a:p>
          <a:p>
            <a:pPr>
              <a:defRPr sz="1800">
                <a:solidFill>
                  <a:srgbClr val="34495E"/>
                </a:solidFill>
                <a:latin typeface="Microsoft YaHei"/>
              </a:defRPr>
            </a:pPr>
            <a:r>
              <a:t>1954年，管理学大师彼得·杜拉克提出目标管理概念，旨在有效进行成员组织与目标制定和控制，提升工作绩效。</a:t>
            </a:r>
          </a:p>
          <a:p>
            <a:pPr>
              <a:defRPr sz="1800">
                <a:solidFill>
                  <a:srgbClr val="34495E"/>
                </a:solidFill>
                <a:latin typeface="Microsoft YaHei"/>
              </a:defRPr>
            </a:pPr>
            <a:r>
              <a:t>1981年12月，SMART原则首次在《管理评论》上亮相，它是达成目标管理的重要方法。</a:t>
            </a:r>
          </a:p>
          <a:p>
            <a:pPr>
              <a:defRPr sz="1800">
                <a:solidFill>
                  <a:srgbClr val="34495E"/>
                </a:solidFill>
                <a:latin typeface="Microsoft YaHei"/>
              </a:defRPr>
            </a:pPr>
            <a:r>
              <a:t>![The image illustrates the SMART principle, highlighting Specific, Measurable, Attainable, Relevant, and Time-based objectives, with corresponding translations and icons.](https://www.deboravenancio.com.br/wp-content/uploads/2022/10/SMART-1.png)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p>
        </p:txBody>
      </p:sp>
      <p:sp>
        <p:nvSpPr>
          <p:cNvPr id="3" name="Content Placeholder 2"/>
          <p:cNvSpPr>
            <a:spLocks noGrp="1"/>
          </p:cNvSpPr>
          <p:nvPr>
            <p:ph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📊SMART原则字母对应及变体分析</a:t>
            </a:r>
          </a:p>
        </p:txBody>
      </p:sp>
      <p:sp>
        <p:nvSpPr>
          <p:cNvPr id="3" name="Content Placeholder 2"/>
          <p:cNvSpPr>
            <a:spLocks noGrp="1"/>
          </p:cNvSpPr>
          <p:nvPr>
            <p:ph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常见对应</a:t>
            </a:r>
          </a:p>
        </p:txBody>
      </p:sp>
      <p:sp>
        <p:nvSpPr>
          <p:cNvPr id="3" name="Content Placeholder 2"/>
          <p:cNvSpPr>
            <a:spLocks noGrp="1"/>
          </p:cNvSpPr>
          <p:nvPr>
            <p:ph idx="1"/>
          </p:nvPr>
        </p:nvSpPr>
        <p:spPr/>
        <p:txBody>
          <a:bodyPr/>
          <a:lstStyle/>
          <a:p>
            <a:pPr>
              <a:defRPr sz="1800">
                <a:solidFill>
                  <a:srgbClr val="34495E"/>
                </a:solidFill>
                <a:latin typeface="Microsoft YaHei"/>
              </a:defRPr>
            </a:pPr>
            <a:r>
              <a:t>“S” - Specific（明确）</a:t>
            </a:r>
          </a:p>
          <a:p>
            <a:pPr>
              <a:defRPr sz="1800">
                <a:solidFill>
                  <a:srgbClr val="34495E"/>
                </a:solidFill>
                <a:latin typeface="Microsoft YaHei"/>
              </a:defRPr>
            </a:pPr>
            <a:r>
              <a:t>“M” - Measurable（可衡量）</a:t>
            </a:r>
          </a:p>
          <a:p>
            <a:pPr>
              <a:defRPr sz="1800">
                <a:solidFill>
                  <a:srgbClr val="34495E"/>
                </a:solidFill>
                <a:latin typeface="Microsoft YaHei"/>
              </a:defRPr>
            </a:pPr>
            <a:r>
              <a:t>“A” - Achievable（可达成）</a:t>
            </a:r>
          </a:p>
          <a:p>
            <a:pPr>
              <a:defRPr sz="1800">
                <a:solidFill>
                  <a:srgbClr val="34495E"/>
                </a:solidFill>
                <a:latin typeface="Microsoft YaHei"/>
              </a:defRPr>
            </a:pPr>
            <a:r>
              <a:t>“R” - Relevant（相关）</a:t>
            </a:r>
          </a:p>
          <a:p>
            <a:pPr>
              <a:defRPr sz="1800">
                <a:solidFill>
                  <a:srgbClr val="34495E"/>
                </a:solidFill>
                <a:latin typeface="Microsoft YaHei"/>
              </a:defRPr>
            </a:pPr>
            <a:r>
              <a:t>“T” - Time - bound（有时限）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丰富变体</a:t>
            </a:r>
          </a:p>
        </p:txBody>
      </p:sp>
      <p:sp>
        <p:nvSpPr>
          <p:cNvPr id="3" name="Content Placeholder 2"/>
          <p:cNvSpPr>
            <a:spLocks noGrp="1"/>
          </p:cNvSpPr>
          <p:nvPr>
            <p:ph idx="1"/>
          </p:nvPr>
        </p:nvSpPr>
        <p:spPr/>
        <p:txBody>
          <a:bodyPr/>
          <a:lstStyle/>
          <a:p>
            <a:pPr>
              <a:defRPr sz="1800">
                <a:solidFill>
                  <a:srgbClr val="34495E"/>
                </a:solidFill>
                <a:latin typeface="Microsoft YaHei"/>
              </a:defRPr>
            </a:pPr>
            <a:r>
              <a:t>| 字母 | 通常对应单词 | 常见变体 |</a:t>
            </a:r>
          </a:p>
          <a:p>
            <a:pPr>
              <a:defRPr sz="1800">
                <a:solidFill>
                  <a:srgbClr val="34495E"/>
                </a:solidFill>
                <a:latin typeface="Microsoft YaHei"/>
              </a:defRPr>
            </a:pPr>
            <a:r>
              <a:t>| ---- | ---- | ---- |</a:t>
            </a:r>
          </a:p>
          <a:p>
            <a:pPr>
              <a:defRPr sz="1800">
                <a:solidFill>
                  <a:srgbClr val="34495E"/>
                </a:solidFill>
                <a:latin typeface="Microsoft YaHei"/>
              </a:defRPr>
            </a:pPr>
            <a:r>
              <a:t>| S | Specific（明确） | Significant（重要）、Stretching（延伸） |</a:t>
            </a:r>
          </a:p>
          <a:p>
            <a:pPr>
              <a:defRPr sz="1800">
                <a:solidFill>
                  <a:srgbClr val="34495E"/>
                </a:solidFill>
                <a:latin typeface="Microsoft YaHei"/>
              </a:defRPr>
            </a:pPr>
            <a:r>
              <a:t>| M | Measurable（可衡量） | Meaningful（有意义）、Motivational（激励） |</a:t>
            </a:r>
          </a:p>
          <a:p>
            <a:pPr>
              <a:defRPr sz="1800">
                <a:solidFill>
                  <a:srgbClr val="34495E"/>
                </a:solidFill>
                <a:latin typeface="Microsoft YaHei"/>
              </a:defRPr>
            </a:pPr>
            <a:r>
              <a:t>| A | Achievable（可达成） | 信息未提供 |</a:t>
            </a:r>
          </a:p>
          <a:p>
            <a:pPr>
              <a:defRPr sz="1800">
                <a:solidFill>
                  <a:srgbClr val="34495E"/>
                </a:solidFill>
                <a:latin typeface="Microsoft YaHei"/>
              </a:defRPr>
            </a:pPr>
            <a:r>
              <a:t>| R | Relevant（相关） | 信息未提供 |</a:t>
            </a:r>
          </a:p>
          <a:p>
            <a:pPr>
              <a:defRPr sz="1800">
                <a:solidFill>
                  <a:srgbClr val="34495E"/>
                </a:solidFill>
                <a:latin typeface="Microsoft YaHei"/>
              </a:defRPr>
            </a:pPr>
            <a:r>
              <a:t>| T | Time - bound（有时限） | 信息未提供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p>
        </p:txBody>
      </p:sp>
      <p:sp>
        <p:nvSpPr>
          <p:cNvPr id="3" name="Content Placeholder 2"/>
          <p:cNvSpPr>
            <a:spLocks noGrp="1"/>
          </p:cNvSpPr>
          <p:nvPr>
            <p:ph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💼SMART原则在企业界的广泛应用</a:t>
            </a:r>
          </a:p>
        </p:txBody>
      </p:sp>
      <p:sp>
        <p:nvSpPr>
          <p:cNvPr id="3" name="Content Placeholder 2"/>
          <p:cNvSpPr>
            <a:spLocks noGrp="1"/>
          </p:cNvSpPr>
          <p:nvPr>
            <p:ph idx="1"/>
          </p:nvPr>
        </p:nvSpPr>
        <p:spPr/>
        <p:txBody>
          <a:bodyPr/>
          <a:lstStyle/>
          <a:p>
            <a:pPr>
              <a:defRPr sz="1800">
                <a:solidFill>
                  <a:srgbClr val="34495E"/>
                </a:solidFill>
                <a:latin typeface="Microsoft YaHei"/>
              </a:defRPr>
            </a:pPr>
            <a:r>
              <a:t>SMART原则助力管理者设定清晰业务目标，为员工提供明确工作方向和评价标准。</a:t>
            </a:r>
          </a:p>
          <a:p>
            <a:pPr>
              <a:defRPr sz="1800">
                <a:solidFill>
                  <a:srgbClr val="34495E"/>
                </a:solidFill>
                <a:latin typeface="Microsoft YaHei"/>
              </a:defRPr>
            </a:pPr>
            <a:r>
              <a:t>团队可设置不同时间尺度检查点，如周计划、月计划和年计划，确保目标稳步实现。</a:t>
            </a:r>
          </a:p>
          <a:p>
            <a:pPr>
              <a:defRPr sz="1800">
                <a:solidFill>
                  <a:srgbClr val="34495E"/>
                </a:solidFill>
                <a:latin typeface="Microsoft YaHei"/>
              </a:defRPr>
            </a:pPr>
            <a:r>
              <a:t>然而，目前不同行业企业应用案例、非企业机构使用情况以及不同规模企业应用差异等信息有待进一步挖掘。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p>
        </p:txBody>
      </p:sp>
      <p:sp>
        <p:nvSpPr>
          <p:cNvPr id="3" name="Content Placeholder 2"/>
          <p:cNvSpPr>
            <a:spLocks noGrp="1"/>
          </p:cNvSpPr>
          <p:nvPr>
            <p:ph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🌟SMART原则的未来发展与影响</a:t>
            </a:r>
          </a:p>
        </p:txBody>
      </p:sp>
      <p:sp>
        <p:nvSpPr>
          <p:cNvPr id="3" name="Content Placeholder 2"/>
          <p:cNvSpPr>
            <a:spLocks noGrp="1"/>
          </p:cNvSpPr>
          <p:nvPr>
            <p:ph idx="1"/>
          </p:nvPr>
        </p:nvSpPr>
        <p:spPr/>
        <p:txBody>
          <a:bodyPr/>
          <a:lstStyle/>
          <a:p>
            <a:pPr>
              <a:defRPr sz="1800">
                <a:solidFill>
                  <a:srgbClr val="34495E"/>
                </a:solidFill>
                <a:latin typeface="Microsoft YaHei"/>
              </a:defRPr>
            </a:pPr>
            <a:r>
              <a:t>鉴于已有多种变体，未来可能根据新场景和需求出现新变体或改进方向。</a:t>
            </a:r>
          </a:p>
          <a:p>
            <a:pPr>
              <a:defRPr sz="1800">
                <a:solidFill>
                  <a:srgbClr val="34495E"/>
                </a:solidFill>
                <a:latin typeface="Microsoft YaHei"/>
              </a:defRPr>
            </a:pPr>
            <a:r>
              <a:t>但目前学术界和企业界对其优缺点的不同观点，以及数字化管理、人工智能等新兴管理理念和技术对其应用的影响，还需深入研究。</a:t>
            </a:r>
          </a:p>
          <a:p>
            <a:pPr>
              <a:defRPr sz="1800">
                <a:solidFill>
                  <a:srgbClr val="34495E"/>
                </a:solidFill>
                <a:latin typeface="Microsoft YaHei"/>
              </a:defRPr>
            </a:pPr>
            <a:r>
              <a:t>![A diagram with five colored circles each labeled with one letter of SMART and its Chinese translation.](https://pic3.zhimg.com/v2-9ab3ce0b34b05deff9432ea469e836ee_b.jpg)</a:t>
            </a:r>
          </a:p>
          <a:p>
            <a:pPr>
              <a:defRPr sz="1800">
                <a:solidFill>
                  <a:srgbClr val="34495E"/>
                </a:solidFill>
                <a:latin typeface="Microsoft YaHei"/>
              </a:defRPr>
            </a:pPr>
            <a:r>
              <a:t>![The diagram outlines the SMART principles, highlighting the key components: Specific, Measurable, Attainable, Relevant, and Time-bound, all oriented towards effective goal-setting.](http://www.28520.cn/bookpic/image/20220714/20220714111043264326.jpg)</a:t>
            </a:r>
          </a:p>
          <a:p>
            <a:pPr>
              <a:defRPr sz="1800">
                <a:solidFill>
                  <a:srgbClr val="34495E"/>
                </a:solidFill>
                <a:latin typeface="Microsoft YaHei"/>
              </a:defRPr>
            </a:pPr>
            <a:r>
              <a:t>![A diagram with a central circle labeled \"SMART原则未来发展\" surrounded by various Chinese terms in different colored sections.](https://pica.zhimg.com/v2-eea777d731e484f8f56771f8eed39abf_720w.jpg?source=172ae18b)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p>
        </p:txBody>
      </p:sp>
      <p:sp>
        <p:nvSpPr>
          <p:cNvPr id="3" name="Content Placeholder 2"/>
          <p:cNvSpPr>
            <a:spLocks noGrp="1"/>
          </p:cNvSpPr>
          <p:nvPr>
            <p:ph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📚关键引用</a:t>
            </a:r>
          </a:p>
        </p:txBody>
      </p:sp>
      <p:sp>
        <p:nvSpPr>
          <p:cNvPr id="3" name="Content Placeholder 2"/>
          <p:cNvSpPr>
            <a:spLocks noGrp="1"/>
          </p:cNvSpPr>
          <p:nvPr>
            <p:ph idx="1"/>
          </p:nvPr>
        </p:nvSpPr>
        <p:spPr/>
        <p:txBody>
          <a:bodyPr/>
          <a:lstStyle/>
          <a:p>
            <a:pPr>
              <a:defRPr sz="1800">
                <a:solidFill>
                  <a:srgbClr val="34495E"/>
                </a:solidFill>
                <a:latin typeface="Microsoft YaHei"/>
              </a:defRPr>
            </a:pPr>
            <a:r>
              <a:t>[SMART原则 - Wikiwand](https://www.wikiwand.com/zh-hans/articles/SMART原则)</a:t>
            </a:r>
          </a:p>
          <a:p>
            <a:pPr>
              <a:defRPr sz="1800">
                <a:solidFill>
                  <a:srgbClr val="34495E"/>
                </a:solidFill>
                <a:latin typeface="Microsoft YaHei"/>
              </a:defRPr>
            </a:pPr>
            <a:r>
              <a:t>[SMART 原则 - wangzf](https://wangzhefeng.com/post/2023/07/28/smart-rule/)</a:t>
            </a:r>
          </a:p>
          <a:p>
            <a:pPr>
              <a:defRPr sz="1800">
                <a:solidFill>
                  <a:srgbClr val="34495E"/>
                </a:solidFill>
                <a:latin typeface="Microsoft YaHei"/>
              </a:defRPr>
            </a:pPr>
            <a:r>
              <a:t>[SMART原则- 维基百科，自由的百科全书](https://zh.wikipedia.org/zh-hans/SMART%E5%8E%9F%E5%88%99)</a:t>
            </a:r>
          </a:p>
          <a:p>
            <a:pPr>
              <a:defRPr sz="1800">
                <a:solidFill>
                  <a:srgbClr val="34495E"/>
                </a:solidFill>
                <a:latin typeface="Microsoft YaHei"/>
              </a:defRPr>
            </a:pPr>
            <a:r>
              <a:t>[Smart原则 - 维基百科，自由的百科全书](https://zh.wikipedia.org/wiki/SMART原则)</a:t>
            </a:r>
          </a:p>
          <a:p>
            <a:pPr>
              <a:defRPr sz="1800">
                <a:solidFill>
                  <a:srgbClr val="34495E"/>
                </a:solidFill>
                <a:latin typeface="Microsoft YaHei"/>
              </a:defRPr>
            </a:pPr>
            <a:r>
              <a:t>[绩效管理中的目标设定怎么理解？ | i人事-智能一体化HR系统](https://docs.ihr360.com/strategy/it_strategy/107774)</a:t>
            </a:r>
          </a:p>
          <a:p>
            <a:pPr>
              <a:defRPr sz="1800">
                <a:solidFill>
                  <a:srgbClr val="34495E"/>
                </a:solidFill>
                <a:latin typeface="Microsoft YaHei"/>
              </a:defRPr>
            </a:pPr>
            <a:r>
              <a:t>[Smart原则是什么？ - 知乎](https://www.zhihu.com/question/628465916)</a:t>
            </a:r>
          </a:p>
          <a:p>
            <a:pPr>
              <a:defRPr sz="1800">
                <a:solidFill>
                  <a:srgbClr val="34495E"/>
                </a:solidFill>
                <a:latin typeface="Microsoft YaHei"/>
              </a:defRPr>
            </a:pPr>
            <a:r>
              <a:t>[Smart原则 - 百度百科](https://baike.baidu.com/item/SMART原则/8575850)</a:t>
            </a:r>
          </a:p>
          <a:p>
            <a:pPr>
              <a:defRPr sz="1800">
                <a:solidFill>
                  <a:srgbClr val="34495E"/>
                </a:solidFill>
                <a:latin typeface="Microsoft YaHei"/>
              </a:defRPr>
            </a:pPr>
            <a:r>
              <a:t>[SMART原则_百度百科](https://baike.baidu.com/item/SMART%E5%8E%9F%E5%88%99/8575850)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p>
        </p:txBody>
      </p:sp>
      <p:sp>
        <p:nvSpPr>
          <p:cNvPr id="3" name="Content Placeholder 2"/>
          <p:cNvSpPr>
            <a:spLocks noGrp="1"/>
          </p:cNvSpPr>
          <p:nvPr>
            <p:ph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🚀下一步行动</a:t>
            </a:r>
          </a:p>
        </p:txBody>
      </p:sp>
      <p:sp>
        <p:nvSpPr>
          <p:cNvPr id="3" name="Content Placeholder 2"/>
          <p:cNvSpPr>
            <a:spLocks noGrp="1"/>
          </p:cNvSpPr>
          <p:nvPr>
            <p:ph idx="1"/>
          </p:nvPr>
        </p:nvSpPr>
        <p:spPr/>
        <p:txBody>
          <a:bodyPr/>
          <a:lstStyle/>
          <a:p>
            <a:pPr>
              <a:defRPr sz="1800" b="1">
                <a:solidFill>
                  <a:srgbClr val="34495E"/>
                </a:solidFill>
                <a:latin typeface="Microsoft YaHei"/>
              </a:defRPr>
            </a:pPr>
            <a:r>
              <a:t>🔍 **深入调研** - 收集不同行业、不同规模企业及非企业机构应用SMART原则的案例。</a:t>
            </a:r>
          </a:p>
          <a:p>
            <a:pPr>
              <a:defRPr sz="1800" b="1">
                <a:solidFill>
                  <a:srgbClr val="34495E"/>
                </a:solidFill>
                <a:latin typeface="Microsoft YaHei"/>
              </a:defRPr>
            </a:pPr>
            <a:r>
              <a:t>🤝 **交流探讨** - 组织研讨会，邀请学术界和企业界人士分享对SMART原则优缺点的看法。</a:t>
            </a:r>
          </a:p>
          <a:p>
            <a:pPr>
              <a:defRPr sz="1800" b="1">
                <a:solidFill>
                  <a:srgbClr val="34495E"/>
                </a:solidFill>
                <a:latin typeface="Microsoft YaHei"/>
              </a:defRPr>
            </a:pPr>
            <a:r>
              <a:t>📈 **关注趋势** - 研究数字化管理、人工智能等新兴理念和技术对SMART原则应用的影响。</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p>
        </p:txBody>
      </p:sp>
      <p:sp>
        <p:nvSpPr>
          <p:cNvPr id="3" name="Content Placeholder 2"/>
          <p:cNvSpPr>
            <a:spLocks noGrp="1"/>
          </p:cNvSpPr>
          <p:nvPr>
            <p:ph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🙏感谢聆听</a:t>
            </a:r>
          </a:p>
        </p:txBody>
      </p:sp>
      <p:sp>
        <p:nvSpPr>
          <p:cNvPr id="3" name="Content Placeholder 2"/>
          <p:cNvSpPr>
            <a:spLocks noGrp="1"/>
          </p:cNvSpPr>
          <p:nvPr>
            <p:ph idx="1"/>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2C3E50"/>
                </a:solidFill>
                <a:latin typeface="Microsoft YaHei"/>
              </a:defRPr>
            </a:pPr>
            <a:r>
              <a:t>🤝期待与您共同探索目标管理的新境界</a:t>
            </a:r>
          </a:p>
        </p:txBody>
      </p:sp>
      <p:sp>
        <p:nvSpPr>
          <p:cNvPr id="3" name="Content Placeholder 2"/>
          <p:cNvSpPr>
            <a:spLocks noGrp="1"/>
          </p:cNvSpPr>
          <p:nvPr>
            <p:ph idx="1"/>
          </p:nvPr>
        </p:nvSpPr>
        <p:spPr/>
        <p:txBody>
          <a:bodyPr/>
          <a:lstStyle/>
          <a:p>
            <a:pPr>
              <a:defRPr sz="1800" b="1">
                <a:solidFill>
                  <a:srgbClr val="34495E"/>
                </a:solidFill>
                <a:latin typeface="Microsoft YaHei"/>
              </a:defRPr>
            </a:pPr>
            <a:r>
              <a:t>**问题交流与讨论**</a:t>
            </a:r>
          </a:p>
          <a:p>
            <a:pPr>
              <a:defRPr sz="1800">
                <a:solidFill>
                  <a:srgbClr val="34495E"/>
                </a:solidFill>
                <a:latin typeface="Microsoft YaHei"/>
              </a:defRPr>
            </a:pPr>
            <a:r>
              <a:t>📧 邮箱：[邮箱地址]</a:t>
            </a:r>
          </a:p>
          <a:p>
            <a:pPr>
              <a:defRPr sz="1800">
                <a:solidFill>
                  <a:srgbClr val="34495E"/>
                </a:solidFill>
                <a:latin typeface="Microsoft YaHei"/>
              </a:defRPr>
            </a:pPr>
            <a:r>
              <a:t>🌐 网站：[网站地址]</a:t>
            </a:r>
          </a:p>
          <a:p>
            <a:pPr>
              <a:defRPr sz="1800">
                <a:solidFill>
                  <a:srgbClr val="34495E"/>
                </a:solidFill>
                <a:latin typeface="Microsoft YaHei"/>
              </a:defRPr>
            </a:pPr>
            <a:r>
              <a:t>📱 社交媒体：[社交媒体账号]</a:t>
            </a:r>
          </a:p>
          <a:p>
            <a:pPr>
              <a:defRPr sz="1800">
                <a:solidFill>
                  <a:srgbClr val="34495E"/>
                </a:solidFill>
                <a:latin typeface="Microsoft YaHei"/>
              </a:defRPr>
            </a:pPr>
            <a:r>
              <a:t>&gt; *“明确的目标是成功的一半，合理的原则是达成目标的关键。”*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